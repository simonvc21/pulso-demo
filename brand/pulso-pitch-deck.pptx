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USD M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Tienda</c:v>
                  </c:pt>
                  <c:pt idx="1">
                    <c:v>Pago.ar</c:v>
                  </c:pt>
                  <c:pt idx="2">
                    <c:v>Lupa</c:v>
                  </c:pt>
                  <c:pt idx="3">
                    <c:v>Vela</c:v>
                  </c:pt>
                  <c:pt idx="4">
                    <c:v>Helix</c:v>
                  </c:pt>
                  <c:pt idx="5">
                    <c:v>Bri</c:v>
                  </c:pt>
                  <c:pt idx="6">
                    <c:v>Sur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3.2</c:v>
                </c:pt>
                <c:pt idx="1">
                  <c:v>2.4</c:v>
                </c:pt>
                <c:pt idx="2">
                  <c:v>1.6</c:v>
                </c:pt>
                <c:pt idx="3">
                  <c:v>1.4</c:v>
                </c:pt>
                <c:pt idx="4">
                  <c:v>1</c:v>
                </c:pt>
                <c:pt idx="5">
                  <c:v>1</c:v>
                </c:pt>
                <c:pt idx="6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41148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4114800" y="3127248"/>
            <a:ext cx="182880" cy="16459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3127248"/>
            <a:ext cx="182880" cy="438912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480560" y="2423160"/>
            <a:ext cx="182880" cy="11430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2423160"/>
            <a:ext cx="182880" cy="13716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846320" y="3200400"/>
            <a:ext cx="182880" cy="5943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3200400"/>
            <a:ext cx="182880" cy="9144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3291840"/>
            <a:ext cx="3931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pic>
        <p:nvPicPr>
          <p:cNvPr id="10" name="Image 0" descr="pulso-logo-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02920"/>
            <a:ext cx="201168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3258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OS para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venture capital en LATAM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640080" y="4069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Reemplazá Excel, Gmail y Drive con un sistema operativo para tu fondo: KPIs trimestrales, formularios para founders, cartas a LPs, todo en un lugar.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03720" y="548640"/>
            <a:ext cx="1783080" cy="347472"/>
          </a:xfrm>
          <a:prstGeom prst="roundRect">
            <a:avLst>
              <a:gd name="adj" fmla="val 47368"/>
            </a:avLst>
          </a:prstGeom>
          <a:solidFill>
            <a:srgbClr val="F4B740"/>
          </a:solidFill>
          <a:ln/>
        </p:spPr>
      </p:sp>
      <p:sp>
        <p:nvSpPr>
          <p:cNvPr id="14" name="Text 11"/>
          <p:cNvSpPr/>
          <p:nvPr/>
        </p:nvSpPr>
        <p:spPr>
          <a:xfrm>
            <a:off x="6903720" y="548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pulso-demo-three.vercel.app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manejás tu portfolio hoy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52400" dist="38100" dir="5400000">
              <a:srgbClr val="0A1F44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se está rompiendo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trimestre. Fórmulas que nadie recuerda. Versiones distintas en cada laptop del equipo. Cada cierre es arqueología.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52400" dist="38100" dir="5400000">
              <a:srgbClr val="0A1F44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Gmail es tu CRM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6974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Persigue founders por WhatsApp y mail para que manden los KPIs. Mitad llegan tarde, mitad en formatos distintos. Reconciliar es manual.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52400" dist="38100" dir="5400000">
              <a:srgbClr val="0A1F44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cartas viven en Drive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6974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PDF. Sin tracking de quién leyó qué. Sin watermark. Cuando cambia un número en un company, hay que rehacer la carta entera.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B3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portfolio es tu producto. No deberías construirlo en Excel.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costo, en horas y oportunidades perdidas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920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</a:t>
            </a:r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persiguiendo KPIs por mail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87752" y="141732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87752" y="1417320"/>
            <a:ext cx="1920240" cy="64008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0" name="Text 8"/>
          <p:cNvSpPr/>
          <p:nvPr/>
        </p:nvSpPr>
        <p:spPr>
          <a:xfrm>
            <a:off x="2770632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</a:t>
            </a:r>
            <a:pPr algn="l" indent="0" marL="0">
              <a:buNone/>
            </a:pP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770632" y="2926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la carta del trimestre a LPs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72584" y="141732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1417320"/>
            <a:ext cx="1920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pPr algn="l" indent="0" marL="0">
              <a:buNone/>
            </a:pP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55464" y="2926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companies sin métricas al día en Q+30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57416" y="141732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7416" y="1417320"/>
            <a:ext cx="1920240" cy="64008"/>
          </a:xfrm>
          <a:prstGeom prst="rect">
            <a:avLst/>
          </a:prstGeom>
          <a:solidFill>
            <a:srgbClr val="1B3A6F"/>
          </a:solidFill>
          <a:ln/>
        </p:spPr>
      </p:sp>
      <p:sp>
        <p:nvSpPr>
          <p:cNvPr id="18" name="Text 16"/>
          <p:cNvSpPr/>
          <p:nvPr/>
        </p:nvSpPr>
        <p:spPr>
          <a:xfrm>
            <a:off x="6940296" y="1783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pPr algn="l" indent="0" marL="0">
              <a:buNone/>
            </a:pP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940296" y="2926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visibilidad sobre qué LPs leen tu carta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3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un fondo de 12 companies, son ~300 horas/año del equipo en tareas que un sistema debería resolver.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Pulso: un sistema operativo para tu fondo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023360" cy="32461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fuente de verdad para tu portfolio.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conecta KPIs, formularios para founders y cartas a LPs en un mismo lugar. Construido por y para fondos de LATAM.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31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73752" y="1463040"/>
            <a:ext cx="384048" cy="384048"/>
          </a:xfrm>
          <a:prstGeom prst="ellipse">
            <a:avLst/>
          </a:prstGeom>
          <a:solidFill>
            <a:srgbClr val="E8FBF7"/>
          </a:solidFill>
          <a:ln/>
        </p:spPr>
      </p:sp>
      <p:sp>
        <p:nvSpPr>
          <p:cNvPr id="9" name="Text 7"/>
          <p:cNvSpPr/>
          <p:nvPr/>
        </p:nvSpPr>
        <p:spPr>
          <a:xfrm>
            <a:off x="487375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trimestrales por company, ARR agregado, watch list automática.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075688"/>
            <a:ext cx="3931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2258568"/>
            <a:ext cx="384048" cy="384048"/>
          </a:xfrm>
          <a:prstGeom prst="ellipse">
            <a:avLst/>
          </a:prstGeom>
          <a:solidFill>
            <a:srgbClr val="E8FBF7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2167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24597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por startup. Métricas históricas, founders, cap table, links a docs.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871216"/>
            <a:ext cx="3931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3752" y="3054096"/>
            <a:ext cx="384048" cy="384048"/>
          </a:xfrm>
          <a:prstGeom prst="ellipse">
            <a:avLst/>
          </a:prstGeom>
          <a:solidFill>
            <a:srgbClr val="E8FBF7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2962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Forms con AI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94960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Mandás un form, founder responde, AI valida y flagea anomalías.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666744"/>
            <a:ext cx="3931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3849624"/>
            <a:ext cx="384048" cy="384048"/>
          </a:xfrm>
          <a:prstGeom prst="ellipse">
            <a:avLst/>
          </a:prstGeom>
          <a:solidFill>
            <a:srgbClr val="E8FB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758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LP Portal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94960" y="4050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trimestrales con watermark por LP y tracking de lectura.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el estado del fondo en 30 segundos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120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982980" cy="77724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46304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invertido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5528" y="1691640"/>
            <a:ext cx="80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22.4M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60220" y="1417320"/>
            <a:ext cx="982980" cy="77724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9" name="Text 7"/>
          <p:cNvSpPr/>
          <p:nvPr/>
        </p:nvSpPr>
        <p:spPr>
          <a:xfrm>
            <a:off x="1869948" y="146304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activas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69948" y="1691640"/>
            <a:ext cx="80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1417320"/>
            <a:ext cx="982980" cy="77724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146304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agregado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44368" y="1691640"/>
            <a:ext cx="80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11.8M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09060" y="1417320"/>
            <a:ext cx="982980" cy="77724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4018788" y="146304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/ runway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18788" y="1691640"/>
            <a:ext cx="80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mo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2313432"/>
          <a:ext cx="48463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806440" y="1325880"/>
            <a:ext cx="54864" cy="91440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9" name="Text 16"/>
          <p:cNvSpPr/>
          <p:nvPr/>
        </p:nvSpPr>
        <p:spPr>
          <a:xfrm>
            <a:off x="5971032" y="132588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list automática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71032" y="1618488"/>
            <a:ext cx="271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con burn &gt; runway o ARR cayendo dos trimestres seguidos suben al tope.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06440" y="2368296"/>
            <a:ext cx="54864" cy="91440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22" name="Text 19"/>
          <p:cNvSpPr/>
          <p:nvPr/>
        </p:nvSpPr>
        <p:spPr>
          <a:xfrm>
            <a:off x="5971032" y="2368296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Comparable contra cohorte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71032" y="2660904"/>
            <a:ext cx="271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métrica contra mediana de companies en su stage y sector.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06440" y="3410712"/>
            <a:ext cx="54864" cy="91440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25" name="Text 22"/>
          <p:cNvSpPr/>
          <p:nvPr/>
        </p:nvSpPr>
        <p:spPr>
          <a:xfrm>
            <a:off x="5971032" y="3410712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reconciliar nada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971032" y="3703320"/>
            <a:ext cx="271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KPIs vienen de los forms que ya respondieron los founders.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Forms con AI: el founder responde, vos validás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· Update trimestral · Tienda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(USD)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837944"/>
            <a:ext cx="1920240" cy="365760"/>
          </a:xfrm>
          <a:prstGeom prst="rect">
            <a:avLst/>
          </a:prstGeom>
          <a:solidFill>
            <a:srgbClr val="EEF1F6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856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2402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QoQ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mensual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404872"/>
            <a:ext cx="1920240" cy="365760"/>
          </a:xfrm>
          <a:prstGeom prst="rect">
            <a:avLst/>
          </a:prstGeom>
          <a:solidFill>
            <a:srgbClr val="EEF1F6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423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en banco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971800"/>
            <a:ext cx="1920240" cy="365760"/>
          </a:xfrm>
          <a:prstGeom prst="rect">
            <a:avLst/>
          </a:prstGeom>
          <a:solidFill>
            <a:srgbClr val="EEF1F6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990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575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3538728"/>
            <a:ext cx="1920240" cy="365760"/>
          </a:xfrm>
          <a:prstGeom prst="rect">
            <a:avLst/>
          </a:prstGeom>
          <a:solidFill>
            <a:srgbClr val="EEF1F6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5570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9410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desde Q4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074920" y="1234440"/>
            <a:ext cx="3611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1234440"/>
            <a:ext cx="3611880" cy="64008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417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revisó este update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196596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1874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consistente con cash flow declarado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246888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cuadra con burn (~$6.6K/empleado)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2971800"/>
            <a:ext cx="164592" cy="16459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subió 22% QoQ — confirmá causa con founder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34747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3383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&lt; 8 meses si no cierra ronda en 60 días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respuesta queda atada a la company. Los flags ya esperan en el dashboard.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Cartas a LPs: una sola fuente, watermark por LP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 · Carta a LPs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020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Generás una vez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basada en datos del fondo, no copiás ningún número.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624328"/>
            <a:ext cx="384048" cy="38404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587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Compartís por LP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825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link tiene watermark con email + IP.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191256"/>
            <a:ext cx="384048" cy="38404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Trackeás la apertura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392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quién la leyó, cuándo, y desde dónde.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758184"/>
            <a:ext cx="384048" cy="38404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Re-generás sin pena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959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Cambiaste un número en una company → la carta se regenera sola.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1280160"/>
            <a:ext cx="3703320" cy="324612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508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Patagonia Fund I · Q1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828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Estimado Roberto,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fondo cerró el trimestre con $22.4M desplegados en ocho compañías activas. ARR agregado +18% QoQ. Highlights en página 2.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roberto@montaltofamilyoffice.com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Simon V., GP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Hecho para fondos de LATAM, no traducido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931920" cy="1417320"/>
          </a:xfrm>
          <a:prstGeom prst="rect">
            <a:avLst/>
          </a:prstGeom>
          <a:solidFill>
            <a:srgbClr val="0F2A5C"/>
          </a:solidFill>
          <a:ln w="12700">
            <a:solidFill>
              <a:srgbClr val="1B3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54864" cy="141732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+ ARS + BRL + CLP + MXN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company puede reportar en su moneda. Conversión al cierre del trimestre, no al day-one.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rgbClr val="0F2A5C"/>
          </a:solidFill>
          <a:ln w="12700">
            <a:solidFill>
              <a:srgbClr val="1B3A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80160"/>
            <a:ext cx="54864" cy="141732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Español y portugués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84708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responden los forms en su idioma. La carta a tus LPs gringos sale en inglés con un click.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931920" cy="1417320"/>
          </a:xfrm>
          <a:prstGeom prst="rect">
            <a:avLst/>
          </a:prstGeom>
          <a:solidFill>
            <a:srgbClr val="0F2A5C"/>
          </a:solidFill>
          <a:ln w="12700">
            <a:solidFill>
              <a:srgbClr val="1B3A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26080"/>
            <a:ext cx="54864" cy="141732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90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relationships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4930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founders LATAM no quieren otro Notion. Pulso es minimal: tres campos, dos minutos, lo guardan.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931920" cy="1417320"/>
          </a:xfrm>
          <a:prstGeom prst="rect">
            <a:avLst/>
          </a:prstGeom>
          <a:solidFill>
            <a:srgbClr val="0F2A5C"/>
          </a:solidFill>
          <a:ln w="12700">
            <a:solidFill>
              <a:srgbClr val="1B3A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926080"/>
            <a:ext cx="54864" cy="141732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090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data, en tu Postgres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4930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RLS por fondo. Si te vas, te llevás un dump SQL. Sin lock-in.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Construido por un GP de LATAM, para fondos de LATAM. No es un producto americano con i18n.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Pricing: por fondo, no por seat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 companies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219456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Companies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form template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LP, sin watermark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B740"/>
            </a:solidFill>
            <a:prstDash val="solid"/>
          </a:ln>
          <a:effectLst>
            <a:outerShdw sx="100000" sy="100000" kx="0" ky="0" algn="bl" rotWithShape="0" blurRad="177800" dist="50800" dir="5400000">
              <a:srgbClr val="0A1F4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66360" y="1115568"/>
            <a:ext cx="914400" cy="310896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1155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mes · hasta 20 companies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971800"/>
            <a:ext cx="219456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108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Starter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ilimitados con AI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portal con watermark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 cartas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directo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&gt; 20 companies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971800"/>
            <a:ext cx="219456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108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Growth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RBAC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dedicado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webhooks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opcional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per-seat. Si tu fondo crece, vos pagás más, no tu equipo.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minutos hasta tu primer KPI en pantalla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926080" cy="32461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4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l" indent="0" marL="0">
              <a:buNone/>
            </a:pPr>
            <a:r>
              <a:rPr lang="en-US" sz="3600" b="1" dirty="0">
                <a:solidFill>
                  <a:srgbClr val="F4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min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demo, sin sales call.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con tu mail y el seed dataset ya está cargado.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0" y="1335024"/>
            <a:ext cx="777240" cy="384048"/>
          </a:xfrm>
          <a:prstGeom prst="rect">
            <a:avLst/>
          </a:prstGeom>
          <a:solidFill>
            <a:srgbClr val="E8FBF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335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280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5544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magic link. Sin tarjeta.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993392"/>
            <a:ext cx="777240" cy="384048"/>
          </a:xfrm>
          <a:prstGeom prst="rect">
            <a:avLst/>
          </a:prstGeom>
          <a:solidFill>
            <a:srgbClr val="E8FBF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933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9385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fondo, listo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2128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 I cargado como ejemplo. Lo renombrás en Settings.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2651760"/>
            <a:ext cx="777240" cy="384048"/>
          </a:xfrm>
          <a:prstGeom prst="rect">
            <a:avLst/>
          </a:prstGeom>
          <a:solidFill>
            <a:srgbClr val="E8FBF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6517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5968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 KPI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28712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Abrís dashboard: $22.4M desplegados, 8 companies, ARR agregado.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3310128"/>
            <a:ext cx="777240" cy="384048"/>
          </a:xfrm>
          <a:prstGeom prst="rect">
            <a:avLst/>
          </a:prstGeom>
          <a:solidFill>
            <a:srgbClr val="E8FBF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3101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32552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Mandás tu primer 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35295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click → URL que mandás al founder. Los datos vuelven a Pulso.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0" y="3968496"/>
            <a:ext cx="777240" cy="384048"/>
          </a:xfrm>
          <a:prstGeom prst="rect">
            <a:avLst/>
          </a:prstGeom>
          <a:solidFill>
            <a:srgbClr val="E8FBF7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96849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913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Compartís con un LP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41879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Generás un share link con watermark del email del LP.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63840" y="384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658368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0195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097280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6517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wired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901952"/>
            <a:ext cx="219456" cy="219456"/>
          </a:xfrm>
          <a:prstGeom prst="ellipse">
            <a:avLst/>
          </a:prstGeom>
          <a:solidFill>
            <a:srgbClr val="F4B7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2286000"/>
            <a:ext cx="1097280" cy="23774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26517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con AI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watermark share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live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76672" y="1901952"/>
            <a:ext cx="219456" cy="219456"/>
          </a:xfrm>
          <a:prstGeom prst="ellipse">
            <a:avLst/>
          </a:prstGeom>
          <a:solidFill>
            <a:srgbClr val="1B3A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7760" y="2286000"/>
            <a:ext cx="1097280" cy="237744"/>
          </a:xfrm>
          <a:prstGeom prst="rect">
            <a:avLst/>
          </a:prstGeom>
          <a:solidFill>
            <a:srgbClr val="1B3A6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6517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dedicado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1901952"/>
            <a:ext cx="219456" cy="219456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2286000"/>
            <a:ext cx="1097280" cy="23774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26517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templates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4864608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3200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3200400" y="4206240"/>
            <a:ext cx="182880" cy="1828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4206240"/>
            <a:ext cx="182880" cy="4572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566160" y="3611880"/>
            <a:ext cx="182880" cy="10515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3611880"/>
            <a:ext cx="182880" cy="11430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931920" y="4297680"/>
            <a:ext cx="182880" cy="4572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4297680"/>
            <a:ext cx="182880" cy="9144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4389120"/>
            <a:ext cx="4846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pic>
        <p:nvPicPr>
          <p:cNvPr id="10" name="Image 0" descr="pulso-logo-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02920"/>
            <a:ext cx="201168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Probalo en 5 minutos.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demo, sin sales call.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40080" y="2971800"/>
            <a:ext cx="4937760" cy="109728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108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pulso-demo-three.vercel.app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Mail: simon.villena2010@gmail.com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Portfolio OS para LATAM VC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Pulso — Portfolio OS para LATAM VC</dc:title>
  <dc:subject>PptxGenJS Presentation</dc:subject>
  <dc:creator>Pulso</dc:creator>
  <cp:lastModifiedBy>Pulso</cp:lastModifiedBy>
  <cp:revision>1</cp:revision>
  <dcterms:created xsi:type="dcterms:W3CDTF">2026-05-03T01:34:23Z</dcterms:created>
  <dcterms:modified xsi:type="dcterms:W3CDTF">2026-05-03T01:34:23Z</dcterms:modified>
</cp:coreProperties>
</file>